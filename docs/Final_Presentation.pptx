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78" r:id="rId3"/>
    <p:sldId id="257" r:id="rId4"/>
    <p:sldId id="271" r:id="rId5"/>
    <p:sldId id="266" r:id="rId6"/>
    <p:sldId id="265" r:id="rId7"/>
    <p:sldId id="259" r:id="rId8"/>
    <p:sldId id="273" r:id="rId9"/>
    <p:sldId id="262" r:id="rId10"/>
    <p:sldId id="279" r:id="rId11"/>
    <p:sldId id="280" r:id="rId12"/>
    <p:sldId id="267" r:id="rId13"/>
    <p:sldId id="274" r:id="rId14"/>
    <p:sldId id="282" r:id="rId15"/>
    <p:sldId id="268" r:id="rId16"/>
    <p:sldId id="283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38"/>
    <p:restoredTop sz="94694"/>
  </p:normalViewPr>
  <p:slideViewPr>
    <p:cSldViewPr snapToGrid="0">
      <p:cViewPr varScale="1">
        <p:scale>
          <a:sx n="121" d="100"/>
          <a:sy n="121" d="100"/>
        </p:scale>
        <p:origin x="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BA909-C43C-F343-BD68-4BB5738C39CC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CCA50-0D49-314B-A649-9672092D7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6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6A4E-26B9-669E-0ED9-5D50CC46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374B3-0931-F0F2-60AF-48B0D4DF6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F04F0-450D-E6B3-0590-0DF8F1EE0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D033D-6F2F-54D2-8261-11234DFA2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83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BCFA-1ED4-BFFF-A64F-BB00A0B7D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F412C-E7B2-02DA-D4B9-4C6DA7AAC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FFC1F-BD36-7101-19B7-12BDACD07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771DE-A141-BA13-5187-4B1D4A360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34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(Feature design grounded in established ECG signal quality literature: Zhao et al., 2018; Rahman et al.,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B4AA-DE28-8E59-6F99-4A29EE1D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9C9C0-A41A-6AEB-4D75-2E0A90E87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97430-0972-3FAC-0602-0FD0C87DB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4CA2A-129A-D797-3789-F9DD47518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82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2D555-3BAC-2620-9B43-FF4BD2652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D2076-1043-2D33-7290-D4AFE7695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0CDCA-B12B-5440-54B0-6259AB0D7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351B6-7E9A-B7A7-19F4-CFDC29869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68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4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31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1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04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0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0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8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3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026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83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30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EC947FCD-DA6E-9060-EDA8-E2BC07498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34" b="1995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AC06D-C033-004A-DF78-9242633A4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Assessment of ECG Signal Quality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Expert Noise Annotations from PTB-XL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8AD0F-2890-B4C3-5F0D-69CB98ED4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Reuben N. Addison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274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065A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Executive Summary</a:t>
            </a:r>
            <a:endParaRPr lang="en-US" sz="4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5242560" cy="4876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853440" y="1645920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Goal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2255520"/>
            <a:ext cx="475488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interpretable machine learning models to classify ECG signal quality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Leverage PTB-XL expert noise annotations as ground truth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logistic regression with deep learning benchmarks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 uncertainty-aware clinical decision support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39840" y="1463040"/>
            <a:ext cx="5242560" cy="4876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Status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2255520"/>
            <a:ext cx="475488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Model A (Basic Features)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Model B (Enhanced Features)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DL1 (Simple MLP Baseline)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67" b="1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Planned: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DL2 (Hybrid CNN Architecture)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DL3 (CNN-Transformer Ensemble)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SzPct val="87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Electrocardiography (ECG) is a noninvasive tool for the diagnosis and monitoring of cardiovascular disease, yet its reliability in routine clinical practice is strongly constrained by signal quality (Wagner et al.,2020)</a:t>
            </a:r>
            <a:endParaRPr lang="en-US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ECGs get degraded by baseline drift, muscle artifact, and electrode contact loss (typically about 23% of the time)</a:t>
            </a:r>
          </a:p>
          <a:p>
            <a:pPr marL="457189" indent="-457189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signal quality obscures diagnostic features and makes automated analysis difficult</a:t>
            </a:r>
          </a:p>
          <a:p>
            <a:pPr marL="457189" indent="-457189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is slow and doesn't scale in high-volume settings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FCE72-6FA3-C76E-6714-B602A5F1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776400-E5B9-9232-0178-74C2C5B5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C505BF-97E2-5B31-0D25-8284C26C5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2F58BB0-7BF2-EC41-798D-C4E9BA06AEB0}"/>
              </a:ext>
            </a:extLst>
          </p:cNvPr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Background (Cont.)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B3A327-DB6E-CEF7-6B35-192A4A480DA5}"/>
              </a:ext>
            </a:extLst>
          </p:cNvPr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existing solutions fall short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SQI thresholds do not generalize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Whole-record quality labels often miss localized noise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often optimized for diagnosis, not quality.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4AB355-22BE-F993-12EE-5E37ECA9B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79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(Cont.)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approach stands out</a:t>
            </a:r>
          </a:p>
          <a:p>
            <a:pPr lvl="1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Literature-grounded design</a:t>
            </a:r>
          </a:p>
          <a:p>
            <a:pPr marL="914389" lvl="1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established ECG signal quality indices rather than task-specific heuristics</a:t>
            </a:r>
          </a:p>
          <a:p>
            <a:pPr lvl="1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quality assessment</a:t>
            </a:r>
          </a:p>
          <a:p>
            <a:pPr marL="914389" lvl="1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Window- and lead-level analysis captures transient artifacts missed by whole-record models</a:t>
            </a:r>
          </a:p>
          <a:p>
            <a:pPr lvl="1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decision-making</a:t>
            </a:r>
          </a:p>
          <a:p>
            <a:pPr marL="914389" lvl="1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thresholds replace fixed cutoffs used in traditional SQI pipelines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(Cont.)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PTB-XL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21,837 clinical 12-lead ECGs, 10s at 500 Hz, expert annotations for 4 artifact types (baseline drift, static noise, burst noise, electrode problems), 77% clean / 23% degraded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Official PTB-XL stratified folds - Folds 1-8 training (80%), Fold 9 validation (10%), Fold 10 test (10%), threshold optimization on validation set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ECGs into short, non-overlapping windows at the lead level 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hand-crafted, interpretable signal quality indices (SQIs) 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clean vs. degraded segments using probabilistic methods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This Matters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detection flags bad leads instantly making it easier to immediately re-acquire the signal without waiting for manual review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confidence in arrhythmia detection and reduces missed diagnoses from poor signal quality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metrics for clinicians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52606-971A-5A9B-D0A8-8EBB4449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56FE3C-3A82-A096-3BA0-4C3A2865E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60C0A22-41EC-27F4-131E-5C38E54B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DE9CD18-27A3-FA4F-0912-6C18D3F42E03}"/>
              </a:ext>
            </a:extLst>
          </p:cNvPr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77834F-EE6B-99A5-1054-7048350A3B79}"/>
              </a:ext>
            </a:extLst>
          </p:cNvPr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interpretable, literature-based signal quality metrics reliably discriminate clean from degraded ECG segments under realistic clinical noise conditions?</a:t>
            </a:r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model ECG signal quality probabilistically using interpretable SQIs and expert-derived labels.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Raw ECG → Median filter baseline removal → 60 Hz notch filter → 0.5-40 Hz bandpass → Per-lead SQI extraction → Feature aggregation (mean/std across leads)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CE89619-EC13-9ACD-2FE5-62BB624D2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">
            <a:extLst>
              <a:ext uri="{FF2B5EF4-FFF2-40B4-BE49-F238E27FC236}">
                <a16:creationId xmlns:a16="http://schemas.microsoft.com/office/drawing/2014/main" id="{0BDDA268-9EBD-DCAE-E181-898F17B89C3F}"/>
              </a:ext>
            </a:extLst>
          </p:cNvPr>
          <p:cNvSpPr/>
          <p:nvPr/>
        </p:nvSpPr>
        <p:spPr>
          <a:xfrm>
            <a:off x="640080" y="4584879"/>
            <a:ext cx="6806609" cy="131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endParaRPr lang="en-US" sz="2000" b="1" cap="all" spc="300" dirty="0"/>
          </a:p>
        </p:txBody>
      </p:sp>
    </p:spTree>
    <p:extLst>
      <p:ext uri="{BB962C8B-B14F-4D97-AF65-F5344CB8AC3E}">
        <p14:creationId xmlns:p14="http://schemas.microsoft.com/office/powerpoint/2010/main" val="1915475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110" y="250147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Feature Engineering: Signal Quality Indices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74076"/>
              </p:ext>
            </p:extLst>
          </p:nvPr>
        </p:nvGraphicFramePr>
        <p:xfrm>
          <a:off x="609600" y="1341120"/>
          <a:ext cx="10972800" cy="3413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Spectral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pSQI, basSQI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QRS band power (5-40 Hz) ratio; baseline drift indicator (0-1 Hz)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Statistical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kSQI, sSQI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Normalized kurtosis and skewness of signal amplitude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Morphological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mean, std, rms, ptp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Amplitude statistics for each lead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Hjorth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mobility, complexity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Signal dynamics: frequency content and waveform irregularity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Enhanced*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iSQI, RR-stats, spec_entropy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R-peak detector agreement, HRV features, spectral entropy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4876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 Enhanced features used only in Model B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09600" y="5364480"/>
            <a:ext cx="10972800" cy="12192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853440" y="5547360"/>
            <a:ext cx="104851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Selection: Variance thresholding (&gt;0.001) + Mutual information ranking. Model A: 15 features, Model B: 20 features.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110" y="250146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Methods: Model Architecture Overview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716017"/>
              </p:ext>
            </p:extLst>
          </p:nvPr>
        </p:nvGraphicFramePr>
        <p:xfrm>
          <a:off x="609600" y="1341120"/>
          <a:ext cx="10972800" cy="390144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Technique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A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Logistic Reg.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 Basic SQIs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L1 regularization, class weighting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59669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 Complete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B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Logistic Reg.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 Enhanced SQIs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L1 regularization, HRV features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59669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 Complete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DL1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MLP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 Basic SQIs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128→64 hidden, dropout, BCE loss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59669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 Complete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DL2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Hybrid CNN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Raw waveform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Multi-scale 1D convolutions, residual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9770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Planned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DL3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CNN-Transformer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Raw waveform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Ensemble + uncertainty, focal loss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9770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Planned</a:t>
                      </a:r>
                      <a:endParaRPr lang="en-US" sz="15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5486400"/>
            <a:ext cx="10972800" cy="1093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Progression: Interpretable baselines → Feature-based DL → End-to-end deep learning benchmarks</a:t>
            </a:r>
          </a:p>
          <a:p>
            <a:pPr algn="ctr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Note: Logistic regression with L1 regularization was adopted after convergence difficulties with the originally planned fully Bayesian logistic regression with horseshoe priors.</a:t>
            </a:r>
            <a:endParaRPr lang="en-US" sz="1867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110" y="229126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Results: Completed Models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211083"/>
              </p:ext>
            </p:extLst>
          </p:nvPr>
        </p:nvGraphicFramePr>
        <p:xfrm>
          <a:off x="609600" y="1341120"/>
          <a:ext cx="10972800" cy="2438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ROC-AUC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AUPRC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ECE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A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0.559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0.275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0.509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0.596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0.260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B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0.556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0.276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0.561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0.516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0.259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DL1 (MLP)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0.555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0.289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0.577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0.505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0.312</a:t>
                      </a:r>
                      <a:endParaRPr lang="en-US" sz="17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40233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Observations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9600" y="45110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Feature-based models achieve ~55-56% AUC, suggesting SQI features alone have limited discriminative power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Enhanced features (Model B) do not substantially improve over basic features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DL1 shows similar performance to logistic regression on same feature set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ECE values around 0.26-0.31 indicate calibration challenges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motivate need for end-to-end deep learning on raw waveforms (DL2, DL3)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621" y="260657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Results: Per-Class Performance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63997"/>
              </p:ext>
            </p:extLst>
          </p:nvPr>
        </p:nvGraphicFramePr>
        <p:xfrm>
          <a:off x="609600" y="1341120"/>
          <a:ext cx="10363200" cy="2438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Clean Prec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Clean Rec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Clean F1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Deg. Prec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Deg. Rec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Deg. F1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A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0.793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0.532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0.637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0.274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0.560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0.368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B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0.779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0.548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0.643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0.262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0.509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0.346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DL1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0.792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0.271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0.403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0.251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0.775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0.380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40233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Interpretation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9600" y="4511040"/>
            <a:ext cx="1097280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imbalance (77% clean vs 23% degraded) significantly impacts minority class performance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Degraded class F1 scores are substantially lower (0.35-0.38) than clean class (0.40-0.64)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DL1 shows bias toward predicting degraded (high degraded recall, low clean recall)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Motivates use of focal loss and more sophisticated class balancing in DL2/DL3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D13BD-9B0D-4DFC-629D-7215DA68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81B0F7-4509-A5B9-0A93-6066B62ED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F5AD10F-CF59-D673-8440-EB72254C9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E9335B9-5BE4-A158-17CD-64AB19140AB0}"/>
              </a:ext>
            </a:extLst>
          </p:cNvPr>
          <p:cNvSpPr/>
          <p:nvPr/>
        </p:nvSpPr>
        <p:spPr>
          <a:xfrm>
            <a:off x="671611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Planned: DL2 &amp; DL3 Architectures</a:t>
            </a:r>
            <a:endParaRPr lang="en-US" sz="4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27BE70-9693-4CF3-B9C4-37CEB85D92E5}"/>
              </a:ext>
            </a:extLst>
          </p:cNvPr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DL2 - Hybrid CNN: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raw 12-lead ECG (12×5000), 4 conv blocks (32→64→128→256 channels),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optimizer, early stopping. Expected AUC: 0.75–0.80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DL3 - CNN-Transformer Ensemble: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CNN stem (parallel kernels k=3,7,15,31), Squeeze-and-Excitation blocks, Transformer encoder (d=128, 8 heads, 4 layers), deep ensemble (5 models) for epistemic uncertainty, focal loss, conformal prediction. Expected AUC: 0.80–0.85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7EE559-C71D-5444-2639-66C894E31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">
            <a:extLst>
              <a:ext uri="{FF2B5EF4-FFF2-40B4-BE49-F238E27FC236}">
                <a16:creationId xmlns:a16="http://schemas.microsoft.com/office/drawing/2014/main" id="{6307690F-2CE5-75C9-F5A2-5F0E603F77B6}"/>
              </a:ext>
            </a:extLst>
          </p:cNvPr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ED25D-3C0D-3B02-795B-7FF89965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70D2CE-FB0A-D7BF-2E34-ECBF3CF20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AD25DB-A719-5213-70F0-55580C99C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D44D465-FA35-B5EA-4E3C-13C178BA271A}"/>
              </a:ext>
            </a:extLst>
          </p:cNvPr>
          <p:cNvSpPr/>
          <p:nvPr/>
        </p:nvSpPr>
        <p:spPr>
          <a:xfrm>
            <a:off x="671611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Validation Strategy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9388DD-B7EB-E642-3CE2-EA80D60B0D8E}"/>
              </a:ext>
            </a:extLst>
          </p:cNvPr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ROC-AUC, AUPRC, Sensitivity/Specificity, ECE, Brier Score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DeLong test for AUC comparison, Bootstrap CIs, McNemar's test, Calibration curve analysis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Strategies: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Youden's J (maximize sensitivity + specificity), F2-Optimal (weight recall 2×), Cost-Sensitive (FN:FP = 5:1 for clinical safety)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Artifact-Specific Analysis: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stratified by baseline drift, muscle artifact, burst noise, and electrode issues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compared against literature-based deep learning SQA models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9ABB07-1733-4791-61F3-15438F70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">
            <a:extLst>
              <a:ext uri="{FF2B5EF4-FFF2-40B4-BE49-F238E27FC236}">
                <a16:creationId xmlns:a16="http://schemas.microsoft.com/office/drawing/2014/main" id="{62119A23-6BF2-AF35-2972-26C4A256F113}"/>
              </a:ext>
            </a:extLst>
          </p:cNvPr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760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570750"/>
            <a:ext cx="10890929" cy="13879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Broader impact &amp; Future directions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2761673"/>
            <a:ext cx="10890929" cy="3536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this goes 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signal quality monitoring in ECG devices and acquisition systems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into clinical QC workflows and decision-making pipelines</a:t>
            </a:r>
          </a:p>
          <a:p>
            <a:pPr marL="457189" indent="-457189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analysis using demographic data to ensure it works fairly across populations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"/>
          <p:cNvSpPr/>
          <p:nvPr/>
        </p:nvSpPr>
        <p:spPr>
          <a:xfrm>
            <a:off x="640080" y="4584879"/>
            <a:ext cx="6806609" cy="131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endParaRPr lang="en-US" sz="2000" b="1" cap="all" spc="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Summary &amp; Remaining semester work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341120"/>
            <a:ext cx="5364480" cy="499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853440" y="15240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has been done ?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2072640"/>
            <a:ext cx="4876800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comprehensive preprocessing and feature extraction pipeline for PTB-XL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Implemented two logistic regression models with interpretable SQI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 DL1 baseline MLP to compare feature-based deep learning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Established evaluation framework with multiple metrics and threshold strategies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Identified limitation: feature-based models plateau at ~56% AUC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1341120"/>
            <a:ext cx="5364480" cy="499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461760" y="15240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What's Next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61760" y="2072640"/>
            <a:ext cx="4876800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DL2 hybrid CNN for end-to-end waveform learning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DL3 CNN-Transformer ensemble with uncertainty quantification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focal loss and conformal prediction for calibrated outputs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 comprehensive statistical comparisons (DeLong tests)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 per-artifact-type performance breakdown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findings in final report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project&#10;&#10;AI-generated content may be incorrect.">
            <a:extLst>
              <a:ext uri="{FF2B5EF4-FFF2-40B4-BE49-F238E27FC236}">
                <a16:creationId xmlns:a16="http://schemas.microsoft.com/office/drawing/2014/main" id="{0B6BB891-737C-12C1-DD0F-80A8F9776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6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291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10328</TotalTime>
  <Words>1271</Words>
  <Application>Microsoft Macintosh PowerPoint</Application>
  <PresentationFormat>Widescreen</PresentationFormat>
  <Paragraphs>220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Grandview Display</vt:lpstr>
      <vt:lpstr>Times New Roman</vt:lpstr>
      <vt:lpstr>DashVTI</vt:lpstr>
      <vt:lpstr>Interpretable Assessment of ECG Signal Quality Using Expert Noise Annotations from PTB-XL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Reuben N Addison</dc:creator>
  <cp:lastModifiedBy>Reuben N Addison</cp:lastModifiedBy>
  <cp:revision>92</cp:revision>
  <dcterms:created xsi:type="dcterms:W3CDTF">2025-11-11T18:32:58Z</dcterms:created>
  <dcterms:modified xsi:type="dcterms:W3CDTF">2026-02-22T05:17:13Z</dcterms:modified>
</cp:coreProperties>
</file>